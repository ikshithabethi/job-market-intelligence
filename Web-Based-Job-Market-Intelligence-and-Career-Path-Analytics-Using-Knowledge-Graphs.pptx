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Raleway" pitchFamily="2" charset="77"/>
      <p:regular r:id="rId14"/>
      <p:bold r:id="rId15"/>
    </p:embeddedFont>
    <p:embeddedFont>
      <p:font typeface="Raleway Bold"/>
      <p:regular r:id="rId16"/>
      <p:bold r:id="rId17"/>
    </p:embeddedFont>
    <p:embeddedFont>
      <p:font typeface="Raleway Light" pitchFamily="2" charset="77"/>
      <p:regular r:id="rId18"/>
    </p:embeddedFont>
    <p:embeddedFont>
      <p:font typeface="Roboto" panose="02000000000000000000" pitchFamily="2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9780E3-4DBF-6447-833A-88797F471F4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C8682A13-4907-B14F-BF17-A35D37566C0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0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0814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Web-Based Job Market Intelligence and Career Path Analytics Using Knowledge Graphs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4635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GRAPH AND WEB ANALYTICS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4102298"/>
            <a:ext cx="6296860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Ikshitha - 2320030140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Ananya - 2320030254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Surag - 2320030117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BC0329-1B59-E510-AF07-20D5EC98B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6377940"/>
            <a:ext cx="1447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30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Legacy Burden: Why Hiring Feels Broken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01739"/>
            <a:ext cx="1004962" cy="1256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80173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Keyword traps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210421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ATS scores prioritize matching words, not demonstrated ownership — producing false negatives and missed hires.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801739"/>
            <a:ext cx="1004962" cy="1256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80173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Ghost talent pools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210421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rejections and opaque filters create inactive pools of capable candidates who never get discovered.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8064794" y="2801739"/>
            <a:ext cx="1004962" cy="1256209"/>
          </a:xfrm>
          <a:prstGeom prst="roundRect">
            <a:avLst>
              <a:gd name="adj" fmla="val 7900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78" y="3171726"/>
            <a:ext cx="190495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452713"/>
            <a:ext cx="1004962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650" dirty="0">
                <a:solidFill>
                  <a:srgbClr val="AEAE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was an error generating this image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9305990" y="2801739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moving target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305990" y="3210421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role evolution leaves candidates chasing titles instead of transferable capabilities.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180D82-2103-7F2C-6975-54A31166F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5400" y="6223000"/>
            <a:ext cx="20066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78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Shift to Capability Intelligence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10264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Capability Intelligence reframes assessment: from static titles to evidence of decision ownership, problem complexity handled, and how skills transfer across contexts.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222526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28717" y="341788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Ownership over tasks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826570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made the decision, not just who executed it.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3222526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71601" y="341788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Complexity scale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826570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 of ambiguity and cross-functional coordination required.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511819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28717" y="531356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Transferability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72224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skills map to adjacent roles and industries.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A1B322-F1A2-E880-6EE3-CC939C7FD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50" y="6257459"/>
            <a:ext cx="1847544" cy="5846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0698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Knowledge Graphs Power the Market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422154"/>
            <a:ext cx="2935909" cy="13436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81352" y="4393618"/>
            <a:ext cx="551161" cy="2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 Paths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6786737" y="4393618"/>
            <a:ext cx="551162" cy="2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Infer Capabilities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6095898" y="4446707"/>
            <a:ext cx="551161" cy="10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Entity Linking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389959" y="4446707"/>
            <a:ext cx="551161" cy="10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 Data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8600661" y="2135188"/>
            <a:ext cx="2935909" cy="2142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graphs model relationships between people, skills, roles, and outcomes. When combined with semantic embeddings, they infer potential matches beyond exact keywords — scaling human judgment into repeatable pathing and trajectory modeling.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600661" y="4422080"/>
            <a:ext cx="2935909" cy="171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linking: people </a:t>
            </a: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skills </a:t>
            </a: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projects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inference: latent capability signals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Pathing: probabilistic career route generation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49BD5A-B557-F63E-D677-6262CCD25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150" y="6257459"/>
            <a:ext cx="1847544" cy="5846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in Action: The 3.4 Million Record Insight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1302"/>
            <a:ext cx="4676856" cy="350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33807" y="2889945"/>
            <a:ext cx="580266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aggregated 3.4M records across job posts, profiles, and occupational taxonomies to produce structured skill-gap maps and individualized roadmaps.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5181600"/>
            <a:ext cx="3533191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9965" y="5360095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Multi-source fusion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39965" y="5689898"/>
            <a:ext cx="317621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LinkedIn, O*NET, real-time job feeds, and proprietary HR APIs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9203" y="5181600"/>
            <a:ext cx="3533191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07693" y="5360095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 distillation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07693" y="5689898"/>
            <a:ext cx="317621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noisy text to normalized capability vectors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96930" y="5181600"/>
            <a:ext cx="3533191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75420" y="5360095"/>
            <a:ext cx="31762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roadmaps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175420" y="5689898"/>
            <a:ext cx="317621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steps: learning, projects, role-to-role transitions</a:t>
            </a:r>
            <a:endParaRPr lang="en-US" sz="12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68AE95-0471-CABC-8EEB-D877B2752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50" y="6257459"/>
            <a:ext cx="1847544" cy="5846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6951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2026 Reality: AI Fluency as a Baseline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61475" y="1937345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literacy is now assumed across many roles — but definitions vary. Hiring must separate shallow awareness from true production capability.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13732"/>
            <a:ext cx="457685" cy="4576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0809" y="2713732"/>
            <a:ext cx="561752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Aware Users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340809" y="3106142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AI concepts and use tools; limited model design or evaluation skills.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37707"/>
            <a:ext cx="457685" cy="4576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40809" y="4037707"/>
            <a:ext cx="561752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Builders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340809" y="4430117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Design, validate, and deploy models; manage data pipelines and monitoring.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361682"/>
            <a:ext cx="457685" cy="4576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40809" y="5361682"/>
            <a:ext cx="561752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ambiguity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340809" y="5754092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 ads invoking "agentic AI" risk misaligned expectations without clear capability descriptors.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Transparency Crisis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365202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Despite regulatory pushes like the EU Pay Transparency Directive, our multi-country audit found zero clear salary disclosures across sampled ads — worsening hard-to-fill roles and decreasing hiring efficiency.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3646488"/>
            <a:ext cx="5315512" cy="25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Withheld ranges cause self-selection bias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Employers misjudge candidate interest and compensation fit</a:t>
            </a:r>
            <a:endParaRPr lang="en-US" sz="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50CCBB-8770-7D9E-9F8D-79DE094BA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50" y="6257459"/>
            <a:ext cx="1847544" cy="584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8127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Designing for the Future: Ethical &amp; Agentic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33360" y="1978521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from opaque systems to auditable, compliant, and fair career platforms that can responsibly source, interview, and upskill candidates.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33360" y="2754908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3040658"/>
            <a:ext cx="3059730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33360" y="3182938"/>
            <a:ext cx="30597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Algorithmic audits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233360" y="3575348"/>
            <a:ext cx="305973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bias and impact assessments aligned with the EU AI Act.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70390" y="2754908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70390" y="3040658"/>
            <a:ext cx="3059830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70390" y="3182938"/>
            <a:ext cx="30598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Transparent signals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70390" y="3575348"/>
            <a:ext cx="305983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capability descriptors, provenance for inferred skills, and explainable matches.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33360" y="4755257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3360" y="5041007"/>
            <a:ext cx="6296860" cy="2540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33360" y="5183287"/>
            <a:ext cx="6296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Ethical agents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33360" y="5575697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agentic workflows with human-in-the-loop checkpoints for hiring decisions.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5F5BBD-3CD9-CD41-C22B-29EB5D83F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150" y="6257459"/>
            <a:ext cx="1847544" cy="584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42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Takeaways for Professionals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52948"/>
            <a:ext cx="762378" cy="762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95294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Candidates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361630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demonstrated ownership, decision scope, and reporting lines — document impact, not just tasks.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952948"/>
            <a:ext cx="762378" cy="7623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95294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Employers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361630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realistic success metrics, clarify team roles, and disclose compensation ranges to improve retention and shorten searches.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952948"/>
            <a:ext cx="762378" cy="7623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95294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ROI of honesty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361630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Transparent, capability-focused hiring reduces mismatches and accelerates hiring cycles.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9B1ACB-48E0-FBE4-E568-B113E70A38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4150" y="6257459"/>
            <a:ext cx="1847544" cy="584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0281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Future of Career Pathing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7693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Careers will become lifelong, data-driven journeys mapped on knowledge graphs. AI scales opportunity by revealing structural clarity — your career is no longer a linear ladder but a navigable graph of possibilities.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896816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16450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4133056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mapping: document ownership, capture evidence, and connect learning to explicit capability signals.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84F2EF-4A50-F3C4-D15C-F4979E93E26F}"/>
              </a:ext>
            </a:extLst>
          </p:cNvPr>
          <p:cNvSpPr txBox="1"/>
          <p:nvPr/>
        </p:nvSpPr>
        <p:spPr>
          <a:xfrm>
            <a:off x="2475572" y="2832408"/>
            <a:ext cx="6545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0858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627</Words>
  <Application>Microsoft Macintosh PowerPoint</Application>
  <PresentationFormat>Widescreen</PresentationFormat>
  <Paragraphs>82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Raleway Bold</vt:lpstr>
      <vt:lpstr>Roboto</vt:lpstr>
      <vt:lpstr>Raleway Light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ikshitha bethi</cp:lastModifiedBy>
  <cp:revision>3</cp:revision>
  <dcterms:created xsi:type="dcterms:W3CDTF">2026-09-18T05:07:56Z</dcterms:created>
  <dcterms:modified xsi:type="dcterms:W3CDTF">2026-10-30T05:42:33Z</dcterms:modified>
</cp:coreProperties>
</file>